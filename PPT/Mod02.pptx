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4" r:id="rId2"/>
    <p:sldId id="399" r:id="rId3"/>
    <p:sldId id="401" r:id="rId4"/>
    <p:sldId id="420" r:id="rId5"/>
    <p:sldId id="421" r:id="rId6"/>
    <p:sldId id="422" r:id="rId7"/>
    <p:sldId id="400" r:id="rId8"/>
    <p:sldId id="423" r:id="rId9"/>
    <p:sldId id="424" r:id="rId10"/>
    <p:sldId id="402" r:id="rId11"/>
    <p:sldId id="406" r:id="rId12"/>
    <p:sldId id="407" r:id="rId13"/>
    <p:sldId id="408" r:id="rId14"/>
    <p:sldId id="425" r:id="rId15"/>
    <p:sldId id="409" r:id="rId16"/>
    <p:sldId id="410" r:id="rId17"/>
    <p:sldId id="426" r:id="rId18"/>
    <p:sldId id="427" r:id="rId19"/>
    <p:sldId id="428" r:id="rId20"/>
    <p:sldId id="411" r:id="rId21"/>
    <p:sldId id="429" r:id="rId22"/>
    <p:sldId id="430" r:id="rId23"/>
    <p:sldId id="431" r:id="rId24"/>
    <p:sldId id="432" r:id="rId25"/>
    <p:sldId id="343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BCE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47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46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E23A7-5E52-E893-9AD3-007967CE6C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4AE066-0F4D-C32A-DE7A-00A13AA0E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2BAE78-6DAE-8C3F-F4DD-F42469DB8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B768A-87F5-9902-D828-40DD456E5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5DE3C-318A-3BC7-254C-FCA2B78E7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82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7DD0E-0804-9FD4-64BB-A471628F5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888F4-086E-1F7A-9447-574541E43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BA841F-8BAA-E4CC-61CF-386CBFC53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23E26-C62D-F308-57E6-6945F61FA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E66B8-D2B0-1A88-2802-9CC5AAF93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233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013C0-D328-BDBC-D0BE-8C6B1BEA5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2E93D3-E307-613D-FA86-6F1D9423CC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9AB59E-20D8-3B42-4723-9D5AE1B81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0B663-D459-D404-0EF1-3A862CC5D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FE9BD-0E65-4510-730A-7E8C28214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964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94A6C-44A6-C47D-112D-105AFBF87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30CA6-DAEA-7E9D-2DC7-10A2355893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044ED9-BDDE-C4B1-1D0E-B5485B3C68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1E4F36-0B64-5740-13CE-687A291B5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216E6E-998E-0896-C085-40A3D4313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B2E42C-CB7C-EB1C-A48B-6A6CA310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286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A38AC-9EF4-BAA0-C998-F76667FCE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4BE6D-1A64-5EB9-8E9B-5421A4464E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12CC98-D8A1-1284-9EC4-D34989872C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0DC796-8760-51A4-69CA-EB1A07A3D9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0ABC62-37C7-21B6-3F2B-9251944032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C6E4A8-84B6-6A6D-88D6-122D56676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419DB9-7C62-638F-C56F-99C71F024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9AB2F1-2599-C0A4-CE09-800614A41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141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208E8-5D7C-0A56-37D2-1DB7C97C9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7991CC-1AA2-0733-B149-A6C10CBB5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908F6E-B844-9300-7370-71A5EB247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E99F77-364A-5417-0A8E-4B74CDAC9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177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D7715D-249E-0242-B2C7-979C73A61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83CB45-88BE-BFD3-F73A-A6384BC23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9BFDA9-274C-E699-A456-9EC91A987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158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13553-943E-91C2-B8DF-EF05C8EA0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03DE9-6D66-82D7-1D58-E43ED5936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21F3DE-0BD6-C935-C408-D7C5A5FBAA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802C91-735D-A3D4-97A3-23A791996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1403B3-DF03-2E96-9979-34DE0E94B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B79285-85CD-A616-C90D-C1D818E88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14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0AB6B-192E-8762-DD31-C16B61614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78BED-F944-7CA2-4394-F5D505DF4E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336B88-BC0C-09DB-F288-F833DE2128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F18DF5-747D-B106-3F3F-5860402FE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0498FA-6A7F-5412-42DC-8FE5A9923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A595D7-7F80-8C96-DC6F-AD2077034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495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2029-5AF6-E7B8-05CE-535A32CE2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C04447-11CC-8878-38FB-225C7F9CE2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6952D-AD2A-4614-30A0-220E3F850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F8AF2-52C3-ADCC-F369-4686C286A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C7FF2-ED62-525A-FED4-9EFB414E0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920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8430B7-3E89-6158-B7B2-3E98FA642D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A81D7D-F839-3829-C7C1-2066A69C55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EB372-102F-3CF9-E542-3954EADBF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149298-1BDF-B168-D1B8-1567EE042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6B091F-075B-53FB-C208-941FB98F0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015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AB0F0F-B815-E535-9A75-9B3EA7153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C7921A-832D-C527-4BA2-CBE61BD86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93067F-945B-E481-C18B-D01803C373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6B987B-B086-4975-AF98-81806256813A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8F682-4931-6A1B-220A-1A4564B85B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51A6F-F8DB-D674-1325-396C3BA2DA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482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.docx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FABB2C33-E227-EBE0-B24C-4CC6A38B7490}"/>
              </a:ext>
            </a:extLst>
          </p:cNvPr>
          <p:cNvGrpSpPr/>
          <p:nvPr/>
        </p:nvGrpSpPr>
        <p:grpSpPr>
          <a:xfrm>
            <a:off x="301077" y="4573374"/>
            <a:ext cx="11372492" cy="2133600"/>
            <a:chOff x="247288" y="4528551"/>
            <a:chExt cx="11372492" cy="213360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B4F3A574-E4E3-AC65-97AE-AD628225D042}"/>
                </a:ext>
              </a:extLst>
            </p:cNvPr>
            <p:cNvSpPr/>
            <p:nvPr/>
          </p:nvSpPr>
          <p:spPr>
            <a:xfrm>
              <a:off x="552087" y="4528551"/>
              <a:ext cx="11067693" cy="2133600"/>
            </a:xfrm>
            <a:prstGeom prst="roundRect">
              <a:avLst/>
            </a:prstGeom>
            <a:gradFill flip="none" rotWithShape="1">
              <a:gsLst>
                <a:gs pos="0">
                  <a:schemeClr val="bg1"/>
                </a:gs>
                <a:gs pos="35000">
                  <a:schemeClr val="accent1">
                    <a:lumMod val="0"/>
                    <a:lumOff val="100000"/>
                  </a:schemeClr>
                </a:gs>
                <a:gs pos="100000">
                  <a:srgbClr val="0D3039"/>
                </a:gs>
              </a:gsLst>
              <a:path path="circle">
                <a:fillToRect l="100000" t="100000"/>
              </a:path>
              <a:tileRect r="-100000" b="-10000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Picture 7" descr="Graphical user interface, text&#10;&#10;Description automatically generated with medium confidence">
              <a:extLst>
                <a:ext uri="{FF2B5EF4-FFF2-40B4-BE49-F238E27FC236}">
                  <a16:creationId xmlns:a16="http://schemas.microsoft.com/office/drawing/2014/main" id="{3531FB66-61BD-6148-751E-19AA402935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3763" y="5494997"/>
              <a:ext cx="2084032" cy="71554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FD24E-8667-F824-39A9-3F246A57BE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80513" y="5363627"/>
              <a:ext cx="1484300" cy="978289"/>
            </a:xfrm>
            <a:prstGeom prst="rect">
              <a:avLst/>
            </a:prstGeom>
          </p:spPr>
        </p:pic>
        <p:pic>
          <p:nvPicPr>
            <p:cNvPr id="10" name="Picture 9" descr="Logo, icon&#10;&#10;Description automatically generated">
              <a:extLst>
                <a:ext uri="{FF2B5EF4-FFF2-40B4-BE49-F238E27FC236}">
                  <a16:creationId xmlns:a16="http://schemas.microsoft.com/office/drawing/2014/main" id="{8A7861E1-CAF9-1E03-E5AA-F5627BE1DD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7187" y="5700877"/>
              <a:ext cx="420827" cy="365694"/>
            </a:xfrm>
            <a:prstGeom prst="rect">
              <a:avLst/>
            </a:prstGeom>
          </p:spPr>
        </p:pic>
        <p:sp>
          <p:nvSpPr>
            <p:cNvPr id="11" name="Subtitle 2">
              <a:extLst>
                <a:ext uri="{FF2B5EF4-FFF2-40B4-BE49-F238E27FC236}">
                  <a16:creationId xmlns:a16="http://schemas.microsoft.com/office/drawing/2014/main" id="{E66E2FA0-F7E1-2270-2937-4DA909CB7AD5}"/>
                </a:ext>
              </a:extLst>
            </p:cNvPr>
            <p:cNvSpPr txBox="1">
              <a:spLocks/>
            </p:cNvSpPr>
            <p:nvPr/>
          </p:nvSpPr>
          <p:spPr>
            <a:xfrm>
              <a:off x="247288" y="4680951"/>
              <a:ext cx="4544490" cy="1828800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Prepared By :</a:t>
              </a:r>
            </a:p>
            <a:p>
              <a:pPr marL="0" indent="0" algn="ctr">
                <a:buNone/>
              </a:pPr>
              <a:r>
                <a:rPr lang="en-US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Said Fawzy</a:t>
              </a: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Manager of Information Center</a:t>
              </a: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Tendering Department</a:t>
              </a: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Arab Contractors </a:t>
              </a:r>
            </a:p>
          </p:txBody>
        </p:sp>
      </p:grpSp>
      <p:sp>
        <p:nvSpPr>
          <p:cNvPr id="12" name="Text Box 1">
            <a:extLst>
              <a:ext uri="{FF2B5EF4-FFF2-40B4-BE49-F238E27FC236}">
                <a16:creationId xmlns:a16="http://schemas.microsoft.com/office/drawing/2014/main" id="{9FF8A57A-136B-305E-D927-6C3603E07967}"/>
              </a:ext>
            </a:extLst>
          </p:cNvPr>
          <p:cNvSpPr txBox="1"/>
          <p:nvPr/>
        </p:nvSpPr>
        <p:spPr>
          <a:xfrm>
            <a:off x="0" y="3070397"/>
            <a:ext cx="12192000" cy="825226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4800" b="1" dirty="0"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2 Building Tables</a:t>
            </a:r>
            <a:endParaRPr lang="en-US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4EB4008-F08D-3716-8F8B-7332ACE2CC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35" y="311499"/>
            <a:ext cx="3296998" cy="1526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464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5A80E0B0-2069-4CBE-93AD-77AEA890AE2A}"/>
              </a:ext>
            </a:extLst>
          </p:cNvPr>
          <p:cNvSpPr/>
          <p:nvPr/>
        </p:nvSpPr>
        <p:spPr>
          <a:xfrm>
            <a:off x="7251" y="-493486"/>
            <a:ext cx="3329256" cy="7984420"/>
          </a:xfrm>
          <a:custGeom>
            <a:avLst/>
            <a:gdLst>
              <a:gd name="connsiteX0" fmla="*/ 0 w 3329256"/>
              <a:gd name="connsiteY0" fmla="*/ 0 h 7984420"/>
              <a:gd name="connsiteX1" fmla="*/ 1 w 3329256"/>
              <a:gd name="connsiteY1" fmla="*/ 0 h 7984420"/>
              <a:gd name="connsiteX2" fmla="*/ 1898776 w 3329256"/>
              <a:gd name="connsiteY2" fmla="*/ 1713483 h 7984420"/>
              <a:gd name="connsiteX3" fmla="*/ 1908630 w 3329256"/>
              <a:gd name="connsiteY3" fmla="*/ 1908628 h 7984420"/>
              <a:gd name="connsiteX4" fmla="*/ 1908630 w 3329256"/>
              <a:gd name="connsiteY4" fmla="*/ 6075792 h 7984420"/>
              <a:gd name="connsiteX5" fmla="*/ 1908626 w 3329256"/>
              <a:gd name="connsiteY5" fmla="*/ 6075792 h 7984420"/>
              <a:gd name="connsiteX6" fmla="*/ 1915960 w 3329256"/>
              <a:gd name="connsiteY6" fmla="*/ 6221042 h 7984420"/>
              <a:gd name="connsiteX7" fmla="*/ 3329256 w 3329256"/>
              <a:gd name="connsiteY7" fmla="*/ 7496421 h 7984420"/>
              <a:gd name="connsiteX8" fmla="*/ 3329256 w 3329256"/>
              <a:gd name="connsiteY8" fmla="*/ 7984420 h 7984420"/>
              <a:gd name="connsiteX9" fmla="*/ 3329255 w 3329256"/>
              <a:gd name="connsiteY9" fmla="*/ 7984420 h 7984420"/>
              <a:gd name="connsiteX10" fmla="*/ 1430480 w 3329256"/>
              <a:gd name="connsiteY10" fmla="*/ 6270937 h 7984420"/>
              <a:gd name="connsiteX11" fmla="*/ 1420626 w 3329256"/>
              <a:gd name="connsiteY11" fmla="*/ 6075792 h 7984420"/>
              <a:gd name="connsiteX12" fmla="*/ 1420626 w 3329256"/>
              <a:gd name="connsiteY12" fmla="*/ 1908628 h 7984420"/>
              <a:gd name="connsiteX13" fmla="*/ 1420630 w 3329256"/>
              <a:gd name="connsiteY13" fmla="*/ 1908628 h 7984420"/>
              <a:gd name="connsiteX14" fmla="*/ 1413296 w 3329256"/>
              <a:gd name="connsiteY14" fmla="*/ 1763378 h 7984420"/>
              <a:gd name="connsiteX15" fmla="*/ 0 w 3329256"/>
              <a:gd name="connsiteY15" fmla="*/ 487999 h 7984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29256" h="7984420">
                <a:moveTo>
                  <a:pt x="0" y="0"/>
                </a:moveTo>
                <a:lnTo>
                  <a:pt x="1" y="0"/>
                </a:lnTo>
                <a:cubicBezTo>
                  <a:pt x="988227" y="0"/>
                  <a:pt x="1801035" y="751045"/>
                  <a:pt x="1898776" y="1713483"/>
                </a:cubicBezTo>
                <a:lnTo>
                  <a:pt x="1908630" y="1908628"/>
                </a:lnTo>
                <a:lnTo>
                  <a:pt x="1908630" y="6075792"/>
                </a:lnTo>
                <a:lnTo>
                  <a:pt x="1908626" y="6075792"/>
                </a:lnTo>
                <a:lnTo>
                  <a:pt x="1915960" y="6221042"/>
                </a:lnTo>
                <a:cubicBezTo>
                  <a:pt x="1988711" y="6937403"/>
                  <a:pt x="2593701" y="7496421"/>
                  <a:pt x="3329256" y="7496421"/>
                </a:cubicBezTo>
                <a:lnTo>
                  <a:pt x="3329256" y="7984420"/>
                </a:lnTo>
                <a:lnTo>
                  <a:pt x="3329255" y="7984420"/>
                </a:lnTo>
                <a:cubicBezTo>
                  <a:pt x="2341029" y="7984420"/>
                  <a:pt x="1528221" y="7233375"/>
                  <a:pt x="1430480" y="6270937"/>
                </a:cubicBezTo>
                <a:lnTo>
                  <a:pt x="1420626" y="6075792"/>
                </a:lnTo>
                <a:lnTo>
                  <a:pt x="1420626" y="1908628"/>
                </a:lnTo>
                <a:lnTo>
                  <a:pt x="1420630" y="1908628"/>
                </a:lnTo>
                <a:lnTo>
                  <a:pt x="1413296" y="1763378"/>
                </a:lnTo>
                <a:cubicBezTo>
                  <a:pt x="1340545" y="1047017"/>
                  <a:pt x="735555" y="487999"/>
                  <a:pt x="0" y="487999"/>
                </a:cubicBezTo>
                <a:close/>
              </a:path>
            </a:pathLst>
          </a:custGeom>
          <a:gradFill flip="none" rotWithShape="1">
            <a:gsLst>
              <a:gs pos="61000">
                <a:srgbClr val="00CC99"/>
              </a:gs>
              <a:gs pos="27400">
                <a:srgbClr val="33CCFF"/>
              </a:gs>
              <a:gs pos="0">
                <a:srgbClr val="000099"/>
              </a:gs>
              <a:gs pos="100000">
                <a:srgbClr val="006600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CB93AC6-FE87-4FA9-BBD4-F140C94A9C2A}"/>
              </a:ext>
            </a:extLst>
          </p:cNvPr>
          <p:cNvGrpSpPr/>
          <p:nvPr/>
        </p:nvGrpSpPr>
        <p:grpSpPr>
          <a:xfrm>
            <a:off x="1437351" y="1240021"/>
            <a:ext cx="3600000" cy="635091"/>
            <a:chOff x="1437351" y="1240021"/>
            <a:chExt cx="3600000" cy="635091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4A175DB-5D33-43C8-AAE4-B1E831D1A234}"/>
                </a:ext>
              </a:extLst>
            </p:cNvPr>
            <p:cNvSpPr/>
            <p:nvPr/>
          </p:nvSpPr>
          <p:spPr>
            <a:xfrm flipV="1">
              <a:off x="1437351" y="1240021"/>
              <a:ext cx="3600000" cy="635091"/>
            </a:xfrm>
            <a:custGeom>
              <a:avLst/>
              <a:gdLst>
                <a:gd name="connsiteX0" fmla="*/ 314185 w 3126929"/>
                <a:gd name="connsiteY0" fmla="*/ 0 h 727424"/>
                <a:gd name="connsiteX1" fmla="*/ 3126929 w 3126929"/>
                <a:gd name="connsiteY1" fmla="*/ 0 h 727424"/>
                <a:gd name="connsiteX2" fmla="*/ 3126929 w 3126929"/>
                <a:gd name="connsiteY2" fmla="*/ 413239 h 727424"/>
                <a:gd name="connsiteX3" fmla="*/ 314185 w 3126929"/>
                <a:gd name="connsiteY3" fmla="*/ 413239 h 727424"/>
                <a:gd name="connsiteX4" fmla="*/ 0 w 3126929"/>
                <a:gd name="connsiteY4" fmla="*/ 727424 h 727424"/>
                <a:gd name="connsiteX5" fmla="*/ 0 w 3126929"/>
                <a:gd name="connsiteY5" fmla="*/ 314185 h 727424"/>
                <a:gd name="connsiteX6" fmla="*/ 314185 w 3126929"/>
                <a:gd name="connsiteY6" fmla="*/ 0 h 727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26929" h="727424">
                  <a:moveTo>
                    <a:pt x="314185" y="0"/>
                  </a:moveTo>
                  <a:lnTo>
                    <a:pt x="3126929" y="0"/>
                  </a:lnTo>
                  <a:lnTo>
                    <a:pt x="3126929" y="413239"/>
                  </a:lnTo>
                  <a:lnTo>
                    <a:pt x="314185" y="413239"/>
                  </a:lnTo>
                  <a:cubicBezTo>
                    <a:pt x="140665" y="413239"/>
                    <a:pt x="0" y="553904"/>
                    <a:pt x="0" y="727424"/>
                  </a:cubicBezTo>
                  <a:lnTo>
                    <a:pt x="0" y="314185"/>
                  </a:lnTo>
                  <a:cubicBezTo>
                    <a:pt x="0" y="140665"/>
                    <a:pt x="140665" y="0"/>
                    <a:pt x="314185" y="0"/>
                  </a:cubicBez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E0ECA3F-8570-4FB5-931A-BBA5339DECE3}"/>
                </a:ext>
              </a:extLst>
            </p:cNvPr>
            <p:cNvSpPr txBox="1"/>
            <p:nvPr/>
          </p:nvSpPr>
          <p:spPr>
            <a:xfrm>
              <a:off x="1615267" y="1543089"/>
              <a:ext cx="342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Create Table in Datasheet View 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7A620AF-3788-4F4E-848F-1363C314793B}"/>
              </a:ext>
            </a:extLst>
          </p:cNvPr>
          <p:cNvSpPr txBox="1"/>
          <p:nvPr/>
        </p:nvSpPr>
        <p:spPr>
          <a:xfrm>
            <a:off x="1337029" y="922563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9AEF2E9-14F9-4365-BFB5-3C0CF7A052E9}"/>
              </a:ext>
            </a:extLst>
          </p:cNvPr>
          <p:cNvGrpSpPr/>
          <p:nvPr/>
        </p:nvGrpSpPr>
        <p:grpSpPr>
          <a:xfrm>
            <a:off x="1437351" y="2358630"/>
            <a:ext cx="3600000" cy="635091"/>
            <a:chOff x="1437351" y="2358630"/>
            <a:chExt cx="3600000" cy="635091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14AB1F3-023E-48AE-989E-4EA1B96825EF}"/>
                </a:ext>
              </a:extLst>
            </p:cNvPr>
            <p:cNvSpPr/>
            <p:nvPr/>
          </p:nvSpPr>
          <p:spPr>
            <a:xfrm flipV="1">
              <a:off x="1437351" y="2358630"/>
              <a:ext cx="3600000" cy="635091"/>
            </a:xfrm>
            <a:custGeom>
              <a:avLst/>
              <a:gdLst>
                <a:gd name="connsiteX0" fmla="*/ 314185 w 3126929"/>
                <a:gd name="connsiteY0" fmla="*/ 0 h 727424"/>
                <a:gd name="connsiteX1" fmla="*/ 3126929 w 3126929"/>
                <a:gd name="connsiteY1" fmla="*/ 0 h 727424"/>
                <a:gd name="connsiteX2" fmla="*/ 3126929 w 3126929"/>
                <a:gd name="connsiteY2" fmla="*/ 413239 h 727424"/>
                <a:gd name="connsiteX3" fmla="*/ 314185 w 3126929"/>
                <a:gd name="connsiteY3" fmla="*/ 413239 h 727424"/>
                <a:gd name="connsiteX4" fmla="*/ 0 w 3126929"/>
                <a:gd name="connsiteY4" fmla="*/ 727424 h 727424"/>
                <a:gd name="connsiteX5" fmla="*/ 0 w 3126929"/>
                <a:gd name="connsiteY5" fmla="*/ 314185 h 727424"/>
                <a:gd name="connsiteX6" fmla="*/ 314185 w 3126929"/>
                <a:gd name="connsiteY6" fmla="*/ 0 h 727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26929" h="727424">
                  <a:moveTo>
                    <a:pt x="314185" y="0"/>
                  </a:moveTo>
                  <a:lnTo>
                    <a:pt x="3126929" y="0"/>
                  </a:lnTo>
                  <a:lnTo>
                    <a:pt x="3126929" y="413239"/>
                  </a:lnTo>
                  <a:lnTo>
                    <a:pt x="314185" y="413239"/>
                  </a:lnTo>
                  <a:cubicBezTo>
                    <a:pt x="140665" y="413239"/>
                    <a:pt x="0" y="553904"/>
                    <a:pt x="0" y="727424"/>
                  </a:cubicBezTo>
                  <a:lnTo>
                    <a:pt x="0" y="314185"/>
                  </a:lnTo>
                  <a:cubicBezTo>
                    <a:pt x="0" y="140665"/>
                    <a:pt x="140665" y="0"/>
                    <a:pt x="314185" y="0"/>
                  </a:cubicBez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470A834-DA13-468F-A794-3687E8A14304}"/>
                </a:ext>
              </a:extLst>
            </p:cNvPr>
            <p:cNvSpPr txBox="1"/>
            <p:nvPr/>
          </p:nvSpPr>
          <p:spPr>
            <a:xfrm>
              <a:off x="1615267" y="2671223"/>
              <a:ext cx="3420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Create a Table in Design View Mode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8F01748C-1478-4628-8CDE-6C69DF1916E8}"/>
              </a:ext>
            </a:extLst>
          </p:cNvPr>
          <p:cNvSpPr txBox="1"/>
          <p:nvPr/>
        </p:nvSpPr>
        <p:spPr>
          <a:xfrm>
            <a:off x="1337029" y="2041172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6664870-6B63-42D0-8F14-11DB5DD34C01}"/>
              </a:ext>
            </a:extLst>
          </p:cNvPr>
          <p:cNvGrpSpPr/>
          <p:nvPr/>
        </p:nvGrpSpPr>
        <p:grpSpPr>
          <a:xfrm>
            <a:off x="1437351" y="3508485"/>
            <a:ext cx="3600000" cy="635091"/>
            <a:chOff x="1437351" y="3508485"/>
            <a:chExt cx="3600000" cy="635091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A4F560C-A913-4090-9959-6C383EC2884F}"/>
                </a:ext>
              </a:extLst>
            </p:cNvPr>
            <p:cNvSpPr/>
            <p:nvPr/>
          </p:nvSpPr>
          <p:spPr>
            <a:xfrm flipV="1">
              <a:off x="1437351" y="3508485"/>
              <a:ext cx="3600000" cy="635091"/>
            </a:xfrm>
            <a:custGeom>
              <a:avLst/>
              <a:gdLst>
                <a:gd name="connsiteX0" fmla="*/ 314185 w 3126929"/>
                <a:gd name="connsiteY0" fmla="*/ 0 h 727424"/>
                <a:gd name="connsiteX1" fmla="*/ 3126929 w 3126929"/>
                <a:gd name="connsiteY1" fmla="*/ 0 h 727424"/>
                <a:gd name="connsiteX2" fmla="*/ 3126929 w 3126929"/>
                <a:gd name="connsiteY2" fmla="*/ 413239 h 727424"/>
                <a:gd name="connsiteX3" fmla="*/ 314185 w 3126929"/>
                <a:gd name="connsiteY3" fmla="*/ 413239 h 727424"/>
                <a:gd name="connsiteX4" fmla="*/ 0 w 3126929"/>
                <a:gd name="connsiteY4" fmla="*/ 727424 h 727424"/>
                <a:gd name="connsiteX5" fmla="*/ 0 w 3126929"/>
                <a:gd name="connsiteY5" fmla="*/ 314185 h 727424"/>
                <a:gd name="connsiteX6" fmla="*/ 314185 w 3126929"/>
                <a:gd name="connsiteY6" fmla="*/ 0 h 727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26929" h="727424">
                  <a:moveTo>
                    <a:pt x="314185" y="0"/>
                  </a:moveTo>
                  <a:lnTo>
                    <a:pt x="3126929" y="0"/>
                  </a:lnTo>
                  <a:lnTo>
                    <a:pt x="3126929" y="413239"/>
                  </a:lnTo>
                  <a:lnTo>
                    <a:pt x="314185" y="413239"/>
                  </a:lnTo>
                  <a:cubicBezTo>
                    <a:pt x="140665" y="413239"/>
                    <a:pt x="0" y="553904"/>
                    <a:pt x="0" y="727424"/>
                  </a:cubicBezTo>
                  <a:lnTo>
                    <a:pt x="0" y="314185"/>
                  </a:lnTo>
                  <a:cubicBezTo>
                    <a:pt x="0" y="140665"/>
                    <a:pt x="140665" y="0"/>
                    <a:pt x="314185" y="0"/>
                  </a:cubicBezTo>
                  <a:close/>
                </a:path>
              </a:pathLst>
            </a:custGeom>
            <a:solidFill>
              <a:srgbClr val="FF0066"/>
            </a:solidFill>
            <a:ln>
              <a:noFill/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1C56302-C5A7-4907-ABF1-8DD9AEA874F5}"/>
                </a:ext>
              </a:extLst>
            </p:cNvPr>
            <p:cNvSpPr txBox="1"/>
            <p:nvPr/>
          </p:nvSpPr>
          <p:spPr>
            <a:xfrm>
              <a:off x="1615267" y="3821078"/>
              <a:ext cx="3420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Defining fields and data types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8A7C455A-AC74-479B-AE4B-995389E7560F}"/>
              </a:ext>
            </a:extLst>
          </p:cNvPr>
          <p:cNvSpPr txBox="1"/>
          <p:nvPr/>
        </p:nvSpPr>
        <p:spPr>
          <a:xfrm>
            <a:off x="1366405" y="3180455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AEF9E77-574A-472A-9033-74F762D0FFFE}"/>
              </a:ext>
            </a:extLst>
          </p:cNvPr>
          <p:cNvGrpSpPr/>
          <p:nvPr/>
        </p:nvGrpSpPr>
        <p:grpSpPr>
          <a:xfrm>
            <a:off x="1437351" y="4595186"/>
            <a:ext cx="3600000" cy="635091"/>
            <a:chOff x="1437351" y="4595186"/>
            <a:chExt cx="3600000" cy="635091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505014D-DEA7-40C6-8F42-75D6E870D921}"/>
                </a:ext>
              </a:extLst>
            </p:cNvPr>
            <p:cNvSpPr/>
            <p:nvPr/>
          </p:nvSpPr>
          <p:spPr>
            <a:xfrm flipV="1">
              <a:off x="1437351" y="4595186"/>
              <a:ext cx="3600000" cy="635091"/>
            </a:xfrm>
            <a:custGeom>
              <a:avLst/>
              <a:gdLst>
                <a:gd name="connsiteX0" fmla="*/ 314185 w 3126929"/>
                <a:gd name="connsiteY0" fmla="*/ 0 h 727424"/>
                <a:gd name="connsiteX1" fmla="*/ 3126929 w 3126929"/>
                <a:gd name="connsiteY1" fmla="*/ 0 h 727424"/>
                <a:gd name="connsiteX2" fmla="*/ 3126929 w 3126929"/>
                <a:gd name="connsiteY2" fmla="*/ 413239 h 727424"/>
                <a:gd name="connsiteX3" fmla="*/ 314185 w 3126929"/>
                <a:gd name="connsiteY3" fmla="*/ 413239 h 727424"/>
                <a:gd name="connsiteX4" fmla="*/ 0 w 3126929"/>
                <a:gd name="connsiteY4" fmla="*/ 727424 h 727424"/>
                <a:gd name="connsiteX5" fmla="*/ 0 w 3126929"/>
                <a:gd name="connsiteY5" fmla="*/ 314185 h 727424"/>
                <a:gd name="connsiteX6" fmla="*/ 314185 w 3126929"/>
                <a:gd name="connsiteY6" fmla="*/ 0 h 727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26929" h="727424">
                  <a:moveTo>
                    <a:pt x="314185" y="0"/>
                  </a:moveTo>
                  <a:lnTo>
                    <a:pt x="3126929" y="0"/>
                  </a:lnTo>
                  <a:lnTo>
                    <a:pt x="3126929" y="413239"/>
                  </a:lnTo>
                  <a:lnTo>
                    <a:pt x="314185" y="413239"/>
                  </a:lnTo>
                  <a:cubicBezTo>
                    <a:pt x="140665" y="413239"/>
                    <a:pt x="0" y="553904"/>
                    <a:pt x="0" y="727424"/>
                  </a:cubicBezTo>
                  <a:lnTo>
                    <a:pt x="0" y="314185"/>
                  </a:lnTo>
                  <a:cubicBezTo>
                    <a:pt x="0" y="140665"/>
                    <a:pt x="140665" y="0"/>
                    <a:pt x="314185" y="0"/>
                  </a:cubicBezTo>
                  <a:close/>
                </a:path>
              </a:pathLst>
            </a:custGeom>
            <a:solidFill>
              <a:srgbClr val="CC00FF"/>
            </a:solidFill>
            <a:ln>
              <a:noFill/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118858D-92CA-4C6D-B72C-30113CF40202}"/>
                </a:ext>
              </a:extLst>
            </p:cNvPr>
            <p:cNvSpPr txBox="1"/>
            <p:nvPr/>
          </p:nvSpPr>
          <p:spPr>
            <a:xfrm>
              <a:off x="1615267" y="4907779"/>
              <a:ext cx="3420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All Data Types available in MS Access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8E5BF2B6-2249-4492-AB84-85AC37DCD3F6}"/>
              </a:ext>
            </a:extLst>
          </p:cNvPr>
          <p:cNvSpPr txBox="1"/>
          <p:nvPr/>
        </p:nvSpPr>
        <p:spPr>
          <a:xfrm>
            <a:off x="1337029" y="4277728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43C060D-2E53-4DC4-9135-4496E9961F82}"/>
              </a:ext>
            </a:extLst>
          </p:cNvPr>
          <p:cNvSpPr/>
          <p:nvPr/>
        </p:nvSpPr>
        <p:spPr>
          <a:xfrm>
            <a:off x="6096000" y="-483725"/>
            <a:ext cx="3329256" cy="7984420"/>
          </a:xfrm>
          <a:custGeom>
            <a:avLst/>
            <a:gdLst>
              <a:gd name="connsiteX0" fmla="*/ 0 w 3329256"/>
              <a:gd name="connsiteY0" fmla="*/ 0 h 7984420"/>
              <a:gd name="connsiteX1" fmla="*/ 1 w 3329256"/>
              <a:gd name="connsiteY1" fmla="*/ 0 h 7984420"/>
              <a:gd name="connsiteX2" fmla="*/ 1898776 w 3329256"/>
              <a:gd name="connsiteY2" fmla="*/ 1713483 h 7984420"/>
              <a:gd name="connsiteX3" fmla="*/ 1908630 w 3329256"/>
              <a:gd name="connsiteY3" fmla="*/ 1908628 h 7984420"/>
              <a:gd name="connsiteX4" fmla="*/ 1908630 w 3329256"/>
              <a:gd name="connsiteY4" fmla="*/ 6075792 h 7984420"/>
              <a:gd name="connsiteX5" fmla="*/ 1908626 w 3329256"/>
              <a:gd name="connsiteY5" fmla="*/ 6075792 h 7984420"/>
              <a:gd name="connsiteX6" fmla="*/ 1915960 w 3329256"/>
              <a:gd name="connsiteY6" fmla="*/ 6221042 h 7984420"/>
              <a:gd name="connsiteX7" fmla="*/ 3329256 w 3329256"/>
              <a:gd name="connsiteY7" fmla="*/ 7496421 h 7984420"/>
              <a:gd name="connsiteX8" fmla="*/ 3329256 w 3329256"/>
              <a:gd name="connsiteY8" fmla="*/ 7984420 h 7984420"/>
              <a:gd name="connsiteX9" fmla="*/ 3329255 w 3329256"/>
              <a:gd name="connsiteY9" fmla="*/ 7984420 h 7984420"/>
              <a:gd name="connsiteX10" fmla="*/ 1430480 w 3329256"/>
              <a:gd name="connsiteY10" fmla="*/ 6270937 h 7984420"/>
              <a:gd name="connsiteX11" fmla="*/ 1420626 w 3329256"/>
              <a:gd name="connsiteY11" fmla="*/ 6075792 h 7984420"/>
              <a:gd name="connsiteX12" fmla="*/ 1420626 w 3329256"/>
              <a:gd name="connsiteY12" fmla="*/ 1908628 h 7984420"/>
              <a:gd name="connsiteX13" fmla="*/ 1420630 w 3329256"/>
              <a:gd name="connsiteY13" fmla="*/ 1908628 h 7984420"/>
              <a:gd name="connsiteX14" fmla="*/ 1413296 w 3329256"/>
              <a:gd name="connsiteY14" fmla="*/ 1763378 h 7984420"/>
              <a:gd name="connsiteX15" fmla="*/ 0 w 3329256"/>
              <a:gd name="connsiteY15" fmla="*/ 487999 h 7984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29256" h="7984420">
                <a:moveTo>
                  <a:pt x="0" y="0"/>
                </a:moveTo>
                <a:lnTo>
                  <a:pt x="1" y="0"/>
                </a:lnTo>
                <a:cubicBezTo>
                  <a:pt x="988227" y="0"/>
                  <a:pt x="1801035" y="751045"/>
                  <a:pt x="1898776" y="1713483"/>
                </a:cubicBezTo>
                <a:lnTo>
                  <a:pt x="1908630" y="1908628"/>
                </a:lnTo>
                <a:lnTo>
                  <a:pt x="1908630" y="6075792"/>
                </a:lnTo>
                <a:lnTo>
                  <a:pt x="1908626" y="6075792"/>
                </a:lnTo>
                <a:lnTo>
                  <a:pt x="1915960" y="6221042"/>
                </a:lnTo>
                <a:cubicBezTo>
                  <a:pt x="1988711" y="6937403"/>
                  <a:pt x="2593701" y="7496421"/>
                  <a:pt x="3329256" y="7496421"/>
                </a:cubicBezTo>
                <a:lnTo>
                  <a:pt x="3329256" y="7984420"/>
                </a:lnTo>
                <a:lnTo>
                  <a:pt x="3329255" y="7984420"/>
                </a:lnTo>
                <a:cubicBezTo>
                  <a:pt x="2341029" y="7984420"/>
                  <a:pt x="1528221" y="7233375"/>
                  <a:pt x="1430480" y="6270937"/>
                </a:cubicBezTo>
                <a:lnTo>
                  <a:pt x="1420626" y="6075792"/>
                </a:lnTo>
                <a:lnTo>
                  <a:pt x="1420626" y="1908628"/>
                </a:lnTo>
                <a:lnTo>
                  <a:pt x="1420630" y="1908628"/>
                </a:lnTo>
                <a:lnTo>
                  <a:pt x="1413296" y="1763378"/>
                </a:lnTo>
                <a:cubicBezTo>
                  <a:pt x="1340545" y="1047017"/>
                  <a:pt x="735555" y="487999"/>
                  <a:pt x="0" y="487999"/>
                </a:cubicBezTo>
                <a:close/>
              </a:path>
            </a:pathLst>
          </a:custGeom>
          <a:gradFill flip="none" rotWithShape="1">
            <a:gsLst>
              <a:gs pos="61000">
                <a:srgbClr val="00CC99"/>
              </a:gs>
              <a:gs pos="27400">
                <a:srgbClr val="33CCFF"/>
              </a:gs>
              <a:gs pos="0">
                <a:srgbClr val="000099"/>
              </a:gs>
              <a:gs pos="100000">
                <a:srgbClr val="006600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FD3B500-F92F-482C-8E23-81B5FA8685B4}"/>
              </a:ext>
            </a:extLst>
          </p:cNvPr>
          <p:cNvGrpSpPr/>
          <p:nvPr/>
        </p:nvGrpSpPr>
        <p:grpSpPr>
          <a:xfrm>
            <a:off x="7526100" y="1249782"/>
            <a:ext cx="3600000" cy="635091"/>
            <a:chOff x="7526100" y="1249782"/>
            <a:chExt cx="3600000" cy="635091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2B94A9F0-2E6E-4D6A-8378-2AC66526190C}"/>
                </a:ext>
              </a:extLst>
            </p:cNvPr>
            <p:cNvSpPr/>
            <p:nvPr/>
          </p:nvSpPr>
          <p:spPr>
            <a:xfrm flipV="1">
              <a:off x="7526100" y="1249782"/>
              <a:ext cx="3600000" cy="635091"/>
            </a:xfrm>
            <a:custGeom>
              <a:avLst/>
              <a:gdLst>
                <a:gd name="connsiteX0" fmla="*/ 314185 w 3126929"/>
                <a:gd name="connsiteY0" fmla="*/ 0 h 727424"/>
                <a:gd name="connsiteX1" fmla="*/ 3126929 w 3126929"/>
                <a:gd name="connsiteY1" fmla="*/ 0 h 727424"/>
                <a:gd name="connsiteX2" fmla="*/ 3126929 w 3126929"/>
                <a:gd name="connsiteY2" fmla="*/ 413239 h 727424"/>
                <a:gd name="connsiteX3" fmla="*/ 314185 w 3126929"/>
                <a:gd name="connsiteY3" fmla="*/ 413239 h 727424"/>
                <a:gd name="connsiteX4" fmla="*/ 0 w 3126929"/>
                <a:gd name="connsiteY4" fmla="*/ 727424 h 727424"/>
                <a:gd name="connsiteX5" fmla="*/ 0 w 3126929"/>
                <a:gd name="connsiteY5" fmla="*/ 314185 h 727424"/>
                <a:gd name="connsiteX6" fmla="*/ 314185 w 3126929"/>
                <a:gd name="connsiteY6" fmla="*/ 0 h 727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26929" h="727424">
                  <a:moveTo>
                    <a:pt x="314185" y="0"/>
                  </a:moveTo>
                  <a:lnTo>
                    <a:pt x="3126929" y="0"/>
                  </a:lnTo>
                  <a:lnTo>
                    <a:pt x="3126929" y="413239"/>
                  </a:lnTo>
                  <a:lnTo>
                    <a:pt x="314185" y="413239"/>
                  </a:lnTo>
                  <a:cubicBezTo>
                    <a:pt x="140665" y="413239"/>
                    <a:pt x="0" y="553904"/>
                    <a:pt x="0" y="727424"/>
                  </a:cubicBezTo>
                  <a:lnTo>
                    <a:pt x="0" y="314185"/>
                  </a:lnTo>
                  <a:cubicBezTo>
                    <a:pt x="0" y="140665"/>
                    <a:pt x="140665" y="0"/>
                    <a:pt x="314185" y="0"/>
                  </a:cubicBezTo>
                  <a:close/>
                </a:path>
              </a:pathLst>
            </a:custGeom>
            <a:solidFill>
              <a:srgbClr val="3399FF"/>
            </a:solidFill>
            <a:ln>
              <a:noFill/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E370C1F-83CA-436E-B50A-0F6859EA3ABB}"/>
                </a:ext>
              </a:extLst>
            </p:cNvPr>
            <p:cNvSpPr txBox="1"/>
            <p:nvPr/>
          </p:nvSpPr>
          <p:spPr>
            <a:xfrm>
              <a:off x="7704016" y="1562375"/>
              <a:ext cx="3420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Data types Pros and Cons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F58DE280-C921-4E8F-A898-82F169A9F75C}"/>
              </a:ext>
            </a:extLst>
          </p:cNvPr>
          <p:cNvSpPr txBox="1"/>
          <p:nvPr/>
        </p:nvSpPr>
        <p:spPr>
          <a:xfrm>
            <a:off x="7425778" y="932324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5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F92536E-FDBC-4303-94F0-E826BDEA4BA2}"/>
              </a:ext>
            </a:extLst>
          </p:cNvPr>
          <p:cNvGrpSpPr/>
          <p:nvPr/>
        </p:nvGrpSpPr>
        <p:grpSpPr>
          <a:xfrm>
            <a:off x="7526100" y="2368391"/>
            <a:ext cx="3600000" cy="635091"/>
            <a:chOff x="7526100" y="2368391"/>
            <a:chExt cx="3600000" cy="635091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D20D763-9758-4BDD-811F-EB7B79E575F9}"/>
                </a:ext>
              </a:extLst>
            </p:cNvPr>
            <p:cNvSpPr/>
            <p:nvPr/>
          </p:nvSpPr>
          <p:spPr>
            <a:xfrm flipV="1">
              <a:off x="7526100" y="2368391"/>
              <a:ext cx="3600000" cy="635091"/>
            </a:xfrm>
            <a:custGeom>
              <a:avLst/>
              <a:gdLst>
                <a:gd name="connsiteX0" fmla="*/ 314185 w 3126929"/>
                <a:gd name="connsiteY0" fmla="*/ 0 h 727424"/>
                <a:gd name="connsiteX1" fmla="*/ 3126929 w 3126929"/>
                <a:gd name="connsiteY1" fmla="*/ 0 h 727424"/>
                <a:gd name="connsiteX2" fmla="*/ 3126929 w 3126929"/>
                <a:gd name="connsiteY2" fmla="*/ 413239 h 727424"/>
                <a:gd name="connsiteX3" fmla="*/ 314185 w 3126929"/>
                <a:gd name="connsiteY3" fmla="*/ 413239 h 727424"/>
                <a:gd name="connsiteX4" fmla="*/ 0 w 3126929"/>
                <a:gd name="connsiteY4" fmla="*/ 727424 h 727424"/>
                <a:gd name="connsiteX5" fmla="*/ 0 w 3126929"/>
                <a:gd name="connsiteY5" fmla="*/ 314185 h 727424"/>
                <a:gd name="connsiteX6" fmla="*/ 314185 w 3126929"/>
                <a:gd name="connsiteY6" fmla="*/ 0 h 727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26929" h="727424">
                  <a:moveTo>
                    <a:pt x="314185" y="0"/>
                  </a:moveTo>
                  <a:lnTo>
                    <a:pt x="3126929" y="0"/>
                  </a:lnTo>
                  <a:lnTo>
                    <a:pt x="3126929" y="413239"/>
                  </a:lnTo>
                  <a:lnTo>
                    <a:pt x="314185" y="413239"/>
                  </a:lnTo>
                  <a:cubicBezTo>
                    <a:pt x="140665" y="413239"/>
                    <a:pt x="0" y="553904"/>
                    <a:pt x="0" y="727424"/>
                  </a:cubicBezTo>
                  <a:lnTo>
                    <a:pt x="0" y="314185"/>
                  </a:lnTo>
                  <a:cubicBezTo>
                    <a:pt x="0" y="140665"/>
                    <a:pt x="140665" y="0"/>
                    <a:pt x="314185" y="0"/>
                  </a:cubicBezTo>
                  <a:close/>
                </a:path>
              </a:pathLst>
            </a:custGeom>
            <a:solidFill>
              <a:srgbClr val="CCCC00"/>
            </a:solidFill>
            <a:ln>
              <a:noFill/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0F2E9AC-78E0-4B8F-8A45-B82DCB1AFA77}"/>
                </a:ext>
              </a:extLst>
            </p:cNvPr>
            <p:cNvSpPr txBox="1"/>
            <p:nvPr/>
          </p:nvSpPr>
          <p:spPr>
            <a:xfrm>
              <a:off x="7704016" y="2680984"/>
              <a:ext cx="3420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Creating table using template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D32EF17F-EA45-4B2A-81E7-074A0F20CF88}"/>
              </a:ext>
            </a:extLst>
          </p:cNvPr>
          <p:cNvSpPr txBox="1"/>
          <p:nvPr/>
        </p:nvSpPr>
        <p:spPr>
          <a:xfrm>
            <a:off x="7425778" y="2050933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6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BE8E3CB-5A1C-0E82-A348-B085413B0B6F}"/>
              </a:ext>
            </a:extLst>
          </p:cNvPr>
          <p:cNvGrpSpPr/>
          <p:nvPr/>
        </p:nvGrpSpPr>
        <p:grpSpPr>
          <a:xfrm>
            <a:off x="8934450" y="218153"/>
            <a:ext cx="3062072" cy="548112"/>
            <a:chOff x="8151095" y="218152"/>
            <a:chExt cx="3845427" cy="686723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8C9D4B7-6E07-C223-54C1-F95B9CAB22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51095" y="218152"/>
              <a:ext cx="3810478" cy="686723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A0D5DD6-1793-3E29-B2B9-F6A49CD06B66}"/>
                </a:ext>
              </a:extLst>
            </p:cNvPr>
            <p:cNvSpPr/>
            <p:nvPr/>
          </p:nvSpPr>
          <p:spPr>
            <a:xfrm>
              <a:off x="11942522" y="733425"/>
              <a:ext cx="54000" cy="1714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16473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  <p:bldP spid="15" grpId="0"/>
      <p:bldP spid="19" grpId="0"/>
      <p:bldP spid="23" grpId="0"/>
      <p:bldP spid="25" grpId="0" animBg="1"/>
      <p:bldP spid="28" grpId="0"/>
      <p:bldP spid="3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Training Overview - WRAP Compliance">
            <a:extLst>
              <a:ext uri="{FF2B5EF4-FFF2-40B4-BE49-F238E27FC236}">
                <a16:creationId xmlns:a16="http://schemas.microsoft.com/office/drawing/2014/main" id="{DA78AECF-577E-3725-3D3F-054EF944D2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9" r="1" b="1"/>
          <a:stretch/>
        </p:blipFill>
        <p:spPr bwMode="auto">
          <a:xfrm>
            <a:off x="4547937" y="-5"/>
            <a:ext cx="7644062" cy="3681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32E999-EC89-76D5-F3E3-A451CC0CEE9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57" r="30796" b="-1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8717305-0D16-7503-D571-9A7D99078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219"/>
            <a:ext cx="6819900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Lab 2A: </a:t>
            </a:r>
            <a:br>
              <a:rPr lang="en-US" sz="5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5000" b="1" dirty="0">
                <a:solidFill>
                  <a:schemeClr val="bg1"/>
                </a:solidFill>
              </a:rPr>
              <a:t>Creating Table in Datasheet view</a:t>
            </a:r>
            <a:endParaRPr lang="en-US" sz="50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431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2A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D5D9B7AE-E9E0-868A-8DEB-3E3454C10B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625" y="1245599"/>
            <a:ext cx="2769073" cy="1636767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B60EEBF9-A1BC-6FA9-6B27-44A909BE6F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6109" y="3070279"/>
            <a:ext cx="5963512" cy="221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261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2A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A688E0A9-8B7A-297A-1354-8DC5946698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484" y="1639517"/>
            <a:ext cx="2897580" cy="4664010"/>
          </a:xfrm>
          <a:prstGeom prst="rect">
            <a:avLst/>
          </a:prstGeom>
        </p:spPr>
      </p:pic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3E8CA78D-40EC-40AD-F66C-71679086B5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4260" y="1639517"/>
            <a:ext cx="5408072" cy="1424764"/>
          </a:xfrm>
          <a:prstGeom prst="rect">
            <a:avLst/>
          </a:prstGeom>
        </p:spPr>
      </p:pic>
      <p:pic>
        <p:nvPicPr>
          <p:cNvPr id="5" name="Picture 4" descr="A screenshot of a computer error&#10;&#10;Description automatically generated">
            <a:extLst>
              <a:ext uri="{FF2B5EF4-FFF2-40B4-BE49-F238E27FC236}">
                <a16:creationId xmlns:a16="http://schemas.microsoft.com/office/drawing/2014/main" id="{F1D97849-F85A-F406-5943-60558D057CD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4717" y="3992372"/>
            <a:ext cx="5835435" cy="1299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3907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2A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5D2E883F-6E68-AD38-B545-9A89EDCDCB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122" y="1605003"/>
            <a:ext cx="4277450" cy="1624579"/>
          </a:xfrm>
          <a:prstGeom prst="rect">
            <a:avLst/>
          </a:prstGeom>
        </p:spPr>
      </p:pic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84B7CC97-3D4B-F5FB-6BAB-403D4344C35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8406" y="3621086"/>
            <a:ext cx="5190462" cy="2192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3193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Training Overview - WRAP Compliance">
            <a:extLst>
              <a:ext uri="{FF2B5EF4-FFF2-40B4-BE49-F238E27FC236}">
                <a16:creationId xmlns:a16="http://schemas.microsoft.com/office/drawing/2014/main" id="{DA78AECF-577E-3725-3D3F-054EF944D2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9" r="1" b="1"/>
          <a:stretch/>
        </p:blipFill>
        <p:spPr bwMode="auto">
          <a:xfrm>
            <a:off x="4547937" y="-5"/>
            <a:ext cx="7644062" cy="3681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32E999-EC89-76D5-F3E3-A451CC0CEE9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57" r="30796" b="-1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8717305-0D16-7503-D571-9A7D99078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15219"/>
            <a:ext cx="6905625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Lab 2B: </a:t>
            </a:r>
            <a:br>
              <a:rPr lang="en-US" sz="5000" b="1" dirty="0">
                <a:solidFill>
                  <a:schemeClr val="bg1"/>
                </a:solidFill>
              </a:rPr>
            </a:br>
            <a:r>
              <a:rPr lang="en-US" sz="5000" b="1" dirty="0">
                <a:solidFill>
                  <a:schemeClr val="bg1"/>
                </a:solidFill>
              </a:rPr>
              <a:t>Creating a table </a:t>
            </a:r>
            <a:br>
              <a:rPr lang="en-US" sz="5000" b="1" dirty="0">
                <a:solidFill>
                  <a:schemeClr val="bg1"/>
                </a:solidFill>
              </a:rPr>
            </a:br>
            <a:r>
              <a:rPr lang="en-US" sz="5000" b="1" dirty="0">
                <a:solidFill>
                  <a:schemeClr val="bg1"/>
                </a:solidFill>
              </a:rPr>
              <a:t>Using Design view</a:t>
            </a:r>
            <a:endParaRPr lang="en-US" sz="50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2333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2B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AAC806D6-87CD-75E2-D678-ED59E6DA1A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4764" y="2532240"/>
            <a:ext cx="5406270" cy="2681786"/>
          </a:xfrm>
          <a:prstGeom prst="rect">
            <a:avLst/>
          </a:prstGeom>
        </p:spPr>
      </p:pic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6FC99ADD-896B-F776-4D87-23555572F5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317" y="1661226"/>
            <a:ext cx="4487044" cy="1742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7408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2B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58F51B59-04D5-3805-0AE0-77645EA632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256" y="1709779"/>
            <a:ext cx="4988106" cy="2405022"/>
          </a:xfrm>
          <a:prstGeom prst="rect">
            <a:avLst/>
          </a:prstGeom>
        </p:spPr>
      </p:pic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EC026555-80CD-8635-1419-E0E95BB33D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9715" y="3866604"/>
            <a:ext cx="2044132" cy="1657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4513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D12CD8-41B9-9F0A-C01C-2FC1C8606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Access Data Types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52CB1E-3A58-B789-F204-140E5CED1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82" y="1574310"/>
            <a:ext cx="11940544" cy="5283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181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D12CD8-41B9-9F0A-C01C-2FC1C8606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Access Data Types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1BCE42-72F5-965E-1C07-77BECDE27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" y="1655276"/>
            <a:ext cx="11601282" cy="5104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033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D12CD8-41B9-9F0A-C01C-2FC1C8606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Access Data Types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3F07CB-251D-D407-E4C3-A34D729D60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" y="1574310"/>
            <a:ext cx="12186720" cy="4191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077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Training Overview - WRAP Compliance">
            <a:extLst>
              <a:ext uri="{FF2B5EF4-FFF2-40B4-BE49-F238E27FC236}">
                <a16:creationId xmlns:a16="http://schemas.microsoft.com/office/drawing/2014/main" id="{DA78AECF-577E-3725-3D3F-054EF944D2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9" r="1" b="1"/>
          <a:stretch/>
        </p:blipFill>
        <p:spPr bwMode="auto">
          <a:xfrm>
            <a:off x="4547937" y="-5"/>
            <a:ext cx="7644062" cy="3681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32E999-EC89-76D5-F3E3-A451CC0CEE9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57" r="30796" b="-1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8717305-0D16-7503-D571-9A7D99078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15219"/>
            <a:ext cx="6905625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Lab 2C: </a:t>
            </a:r>
            <a:br>
              <a:rPr lang="en-US" sz="5000" b="1" dirty="0">
                <a:solidFill>
                  <a:schemeClr val="bg1"/>
                </a:solidFill>
              </a:rPr>
            </a:br>
            <a:r>
              <a:rPr lang="en-US" sz="5000" b="1" dirty="0">
                <a:solidFill>
                  <a:schemeClr val="bg1"/>
                </a:solidFill>
              </a:rPr>
              <a:t>Creating Table </a:t>
            </a:r>
            <a:br>
              <a:rPr lang="en-US" sz="5000" b="1" dirty="0">
                <a:solidFill>
                  <a:schemeClr val="bg1"/>
                </a:solidFill>
              </a:rPr>
            </a:br>
            <a:r>
              <a:rPr lang="en-US" sz="5000" b="1" dirty="0">
                <a:solidFill>
                  <a:schemeClr val="bg1"/>
                </a:solidFill>
              </a:rPr>
              <a:t>from Table Template</a:t>
            </a:r>
            <a:endParaRPr lang="en-US" sz="50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5974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2C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6B825F-4278-3AB4-0225-A2F98A9D885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565" y="1561837"/>
            <a:ext cx="2987219" cy="3321947"/>
          </a:xfrm>
          <a:prstGeom prst="rect">
            <a:avLst/>
          </a:prstGeom>
        </p:spPr>
      </p:pic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F6018416-0A04-FB3A-35FA-FBAB62004A5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9702" y="2200356"/>
            <a:ext cx="3483217" cy="27167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1A0D6E-BC8C-2DE1-D897-0620E679FB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9515" y="1502092"/>
            <a:ext cx="2675336" cy="3869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8606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F39FBD-9976-66D6-113F-13D9A685E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Table Datasheet view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5B230520-C7EB-94EF-EFFB-95B578F9A1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41" y="1822348"/>
            <a:ext cx="10793118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283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Training Overview - WRAP Compliance">
            <a:extLst>
              <a:ext uri="{FF2B5EF4-FFF2-40B4-BE49-F238E27FC236}">
                <a16:creationId xmlns:a16="http://schemas.microsoft.com/office/drawing/2014/main" id="{DA78AECF-577E-3725-3D3F-054EF944D2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9" r="1" b="1"/>
          <a:stretch/>
        </p:blipFill>
        <p:spPr bwMode="auto">
          <a:xfrm>
            <a:off x="4547937" y="-5"/>
            <a:ext cx="7644062" cy="3681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32E999-EC89-76D5-F3E3-A451CC0CEE9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57" r="30796" b="-1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8717305-0D16-7503-D571-9A7D99078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15219"/>
            <a:ext cx="6905625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Lab 2D: </a:t>
            </a:r>
            <a:br>
              <a:rPr lang="en-US" sz="5000" b="1" dirty="0">
                <a:solidFill>
                  <a:schemeClr val="bg1"/>
                </a:solidFill>
              </a:rPr>
            </a:br>
            <a:r>
              <a:rPr lang="en-US" sz="5000" b="1" dirty="0">
                <a:solidFill>
                  <a:schemeClr val="bg1"/>
                </a:solidFill>
              </a:rPr>
              <a:t>Working with </a:t>
            </a:r>
            <a:br>
              <a:rPr lang="en-US" sz="5000" b="1" dirty="0">
                <a:solidFill>
                  <a:schemeClr val="bg1"/>
                </a:solidFill>
              </a:rPr>
            </a:br>
            <a:r>
              <a:rPr lang="en-US" sz="5000" b="1" dirty="0">
                <a:solidFill>
                  <a:schemeClr val="bg1"/>
                </a:solidFill>
              </a:rPr>
              <a:t>table datasheet view</a:t>
            </a:r>
            <a:endParaRPr lang="en-US" sz="50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2111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2D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FC32A08D-B64C-C9BC-FB17-6B39D1B85E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925" y="1359872"/>
            <a:ext cx="3212580" cy="1500060"/>
          </a:xfrm>
          <a:prstGeom prst="rect">
            <a:avLst/>
          </a:prstGeom>
        </p:spPr>
      </p:pic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C8B48156-5E2B-B370-F97E-5ACDCED5539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1571" y="914657"/>
            <a:ext cx="2955228" cy="4731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1239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2D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D412E9-D69E-CE69-411E-116F4DD3532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079" y="1352145"/>
            <a:ext cx="3781519" cy="3249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3531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2D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9951C926-B249-DA21-4A4C-7D8757D62B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316" y="1166926"/>
            <a:ext cx="3007101" cy="1695235"/>
          </a:xfrm>
          <a:prstGeom prst="rect">
            <a:avLst/>
          </a:prstGeom>
        </p:spPr>
      </p:pic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46A51578-9339-9379-7367-87EE95FD9A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596" y="3253323"/>
            <a:ext cx="2437751" cy="2437751"/>
          </a:xfrm>
          <a:prstGeom prst="rect">
            <a:avLst/>
          </a:prstGeom>
        </p:spPr>
      </p:pic>
      <p:pic>
        <p:nvPicPr>
          <p:cNvPr id="6" name="Picture 5" descr="A screenshot of a computer error&#10;&#10;Description automatically generated">
            <a:extLst>
              <a:ext uri="{FF2B5EF4-FFF2-40B4-BE49-F238E27FC236}">
                <a16:creationId xmlns:a16="http://schemas.microsoft.com/office/drawing/2014/main" id="{5AB1FD91-D51A-FF6D-B9AB-B129DE49D6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9498" y="3600114"/>
            <a:ext cx="4011038" cy="1524744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EEE20D51-D7AE-7D7E-3447-9AB4F84D144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5687" y="2642430"/>
            <a:ext cx="2031048" cy="1573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3079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Training Overview - WRAP Compliance">
            <a:extLst>
              <a:ext uri="{FF2B5EF4-FFF2-40B4-BE49-F238E27FC236}">
                <a16:creationId xmlns:a16="http://schemas.microsoft.com/office/drawing/2014/main" id="{DA78AECF-577E-3725-3D3F-054EF944D2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9" r="1" b="1"/>
          <a:stretch/>
        </p:blipFill>
        <p:spPr bwMode="auto">
          <a:xfrm>
            <a:off x="4547937" y="-5"/>
            <a:ext cx="7644062" cy="3681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32E999-EC89-76D5-F3E3-A451CC0CEE9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57" r="30796" b="-1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8717305-0D16-7503-D571-9A7D99078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15219"/>
            <a:ext cx="6905625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Lab 2E: </a:t>
            </a:r>
            <a:br>
              <a:rPr lang="en-US" sz="5000" b="1" dirty="0">
                <a:solidFill>
                  <a:schemeClr val="bg1"/>
                </a:solidFill>
              </a:rPr>
            </a:br>
            <a:r>
              <a:rPr lang="en-US" sz="5000" b="1" dirty="0">
                <a:solidFill>
                  <a:schemeClr val="bg1"/>
                </a:solidFill>
              </a:rPr>
              <a:t>Change Fields Properties</a:t>
            </a:r>
            <a:endParaRPr lang="en-US" sz="50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8007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2E</a:t>
            </a: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4B9D7E7B-21A7-6E5A-4A4B-A52BE63D99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8729340"/>
              </p:ext>
            </p:extLst>
          </p:nvPr>
        </p:nvGraphicFramePr>
        <p:xfrm>
          <a:off x="550639" y="1799245"/>
          <a:ext cx="10723718" cy="43335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943390" imgH="2401664" progId="Word.Document.12">
                  <p:embed/>
                </p:oleObj>
              </mc:Choice>
              <mc:Fallback>
                <p:oleObj name="Document" r:id="rId3" imgW="5943390" imgH="240166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50639" y="1799245"/>
                        <a:ext cx="10723718" cy="43335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433908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2E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4A5CA0-97AC-596B-E39A-2BFC22EBAE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189" y="1229172"/>
            <a:ext cx="3419156" cy="312898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FACB9C7-6E57-7F5A-2CF3-1EA1DD6A8D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8179" y="1229171"/>
            <a:ext cx="3338009" cy="30220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295F1A-9D7D-62B3-20DC-4E5EB3E03A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1451" y="4804859"/>
            <a:ext cx="5700529" cy="565000"/>
          </a:xfrm>
          <a:prstGeom prst="rect">
            <a:avLst/>
          </a:prstGeom>
        </p:spPr>
      </p:pic>
      <p:pic>
        <p:nvPicPr>
          <p:cNvPr id="6" name="Picture 5" descr="A screenshot of a phone&#10;&#10;Description automatically generated">
            <a:extLst>
              <a:ext uri="{FF2B5EF4-FFF2-40B4-BE49-F238E27FC236}">
                <a16:creationId xmlns:a16="http://schemas.microsoft.com/office/drawing/2014/main" id="{CF3F4442-4AD5-E52D-5638-EA9B5C96FD0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7377" y="1951189"/>
            <a:ext cx="932740" cy="1043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204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2E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D22DE1-34E6-D08D-168F-11491D8779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043275"/>
            <a:ext cx="3798365" cy="496350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C457A1A-8A71-3112-E946-DCC27D0D4D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747" y="1308445"/>
            <a:ext cx="2603829" cy="4698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7260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2E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DB2BCE-C953-AE70-DF0A-5E62C5A622D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1630" y="2173605"/>
            <a:ext cx="7848327" cy="3254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5943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Questions and Concerns Business Layout | Template Presentation | Sample of  PPT Presentation | Presentation Background Images">
            <a:extLst>
              <a:ext uri="{FF2B5EF4-FFF2-40B4-BE49-F238E27FC236}">
                <a16:creationId xmlns:a16="http://schemas.microsoft.com/office/drawing/2014/main" id="{4F5B5832-12FB-05F6-6EF8-470F30C68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6312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974</TotalTime>
  <Words>141</Words>
  <Application>Microsoft Office PowerPoint</Application>
  <PresentationFormat>Widescreen</PresentationFormat>
  <Paragraphs>40</Paragraphs>
  <Slides>25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Arial Black</vt:lpstr>
      <vt:lpstr>Calibri</vt:lpstr>
      <vt:lpstr>Calibri Light</vt:lpstr>
      <vt:lpstr>Open Sans</vt:lpstr>
      <vt:lpstr>Office Theme</vt:lpstr>
      <vt:lpstr>Microsoft Word Document</vt:lpstr>
      <vt:lpstr>PowerPoint Presentation</vt:lpstr>
      <vt:lpstr>PowerPoint Presentation</vt:lpstr>
      <vt:lpstr>Lab 2A:  Creating Table in Datasheet view</vt:lpstr>
      <vt:lpstr>PowerPoint Presentation</vt:lpstr>
      <vt:lpstr>PowerPoint Presentation</vt:lpstr>
      <vt:lpstr>PowerPoint Presentation</vt:lpstr>
      <vt:lpstr>Lab 2B:  Creating a table  Using Design view</vt:lpstr>
      <vt:lpstr>PowerPoint Presentation</vt:lpstr>
      <vt:lpstr>PowerPoint Presentation</vt:lpstr>
      <vt:lpstr>Access Data Types</vt:lpstr>
      <vt:lpstr>Access Data Types</vt:lpstr>
      <vt:lpstr>Access Data Types</vt:lpstr>
      <vt:lpstr>Lab 2C:  Creating Table  from Table Template</vt:lpstr>
      <vt:lpstr>PowerPoint Presentation</vt:lpstr>
      <vt:lpstr>Table Datasheet view</vt:lpstr>
      <vt:lpstr>Lab 2D:  Working with  table datasheet view</vt:lpstr>
      <vt:lpstr>PowerPoint Presentation</vt:lpstr>
      <vt:lpstr>PowerPoint Presentation</vt:lpstr>
      <vt:lpstr>PowerPoint Presentation</vt:lpstr>
      <vt:lpstr>Lab 2E:  Change Fields Properties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Fundamentals</dc:title>
  <dc:creator>Said Fawzy</dc:creator>
  <cp:lastModifiedBy>Said Fawzy</cp:lastModifiedBy>
  <cp:revision>101</cp:revision>
  <dcterms:created xsi:type="dcterms:W3CDTF">2023-05-17T06:08:53Z</dcterms:created>
  <dcterms:modified xsi:type="dcterms:W3CDTF">2023-08-07T06:46:26Z</dcterms:modified>
</cp:coreProperties>
</file>