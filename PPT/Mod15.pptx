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" r:id="rId2"/>
    <p:sldId id="446" r:id="rId3"/>
    <p:sldId id="447" r:id="rId4"/>
    <p:sldId id="448" r:id="rId5"/>
    <p:sldId id="459" r:id="rId6"/>
    <p:sldId id="470" r:id="rId7"/>
    <p:sldId id="471" r:id="rId8"/>
    <p:sldId id="472" r:id="rId9"/>
    <p:sldId id="401" r:id="rId10"/>
    <p:sldId id="405" r:id="rId11"/>
    <p:sldId id="486" r:id="rId12"/>
    <p:sldId id="487" r:id="rId13"/>
    <p:sldId id="473" r:id="rId14"/>
    <p:sldId id="474" r:id="rId15"/>
    <p:sldId id="475" r:id="rId16"/>
    <p:sldId id="476" r:id="rId17"/>
    <p:sldId id="488" r:id="rId18"/>
    <p:sldId id="477" r:id="rId19"/>
    <p:sldId id="484" r:id="rId20"/>
    <p:sldId id="483" r:id="rId21"/>
    <p:sldId id="478" r:id="rId22"/>
    <p:sldId id="490" r:id="rId23"/>
    <p:sldId id="479" r:id="rId24"/>
    <p:sldId id="480" r:id="rId25"/>
    <p:sldId id="489" r:id="rId26"/>
    <p:sldId id="481" r:id="rId27"/>
    <p:sldId id="485" r:id="rId28"/>
    <p:sldId id="482" r:id="rId29"/>
    <p:sldId id="491" r:id="rId30"/>
    <p:sldId id="493" r:id="rId31"/>
    <p:sldId id="494" r:id="rId32"/>
    <p:sldId id="492" r:id="rId33"/>
    <p:sldId id="496" r:id="rId34"/>
    <p:sldId id="495" r:id="rId35"/>
    <p:sldId id="469" r:id="rId36"/>
    <p:sldId id="497" r:id="rId37"/>
    <p:sldId id="34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104583"/>
    <a:srgbClr val="009900"/>
    <a:srgbClr val="FF3399"/>
    <a:srgbClr val="333300"/>
    <a:srgbClr val="660066"/>
    <a:srgbClr val="FF00FF"/>
    <a:srgbClr val="BBCEFF"/>
    <a:srgbClr val="00808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6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7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5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1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43722" y="2182194"/>
            <a:ext cx="12192000" cy="1080296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>
                <a:solidFill>
                  <a:srgbClr val="C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MV Boli" panose="02000500030200090000" pitchFamily="2" charset="0"/>
                <a:ea typeface="Calibri" panose="020F0502020204030204" pitchFamily="34" charset="0"/>
                <a:cs typeface="MV Boli" panose="02000500030200090000" pitchFamily="2" charset="0"/>
              </a:rPr>
              <a:t>15</a:t>
            </a:r>
            <a:r>
              <a:rPr lang="en-US" sz="48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Introduction to Macros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38877A-53EA-F9DF-1503-5C75BC773677}"/>
              </a:ext>
            </a:extLst>
          </p:cNvPr>
          <p:cNvGrpSpPr/>
          <p:nvPr/>
        </p:nvGrpSpPr>
        <p:grpSpPr>
          <a:xfrm>
            <a:off x="489335" y="311499"/>
            <a:ext cx="3296998" cy="1526265"/>
            <a:chOff x="489335" y="311499"/>
            <a:chExt cx="3296998" cy="15262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292858F-1305-AE83-3447-B048040CD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335" y="311499"/>
              <a:ext cx="3296998" cy="152626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DF8FF9-096B-301D-07C0-00A7E63CD52A}"/>
                </a:ext>
              </a:extLst>
            </p:cNvPr>
            <p:cNvSpPr/>
            <p:nvPr/>
          </p:nvSpPr>
          <p:spPr>
            <a:xfrm>
              <a:off x="2352866" y="732841"/>
              <a:ext cx="264827" cy="46166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What is Macros?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Why Using Macros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808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4915805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Creating a Simple </a:t>
            </a:r>
            <a:b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</a:br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Macro Hello World</a:t>
            </a: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FF3399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Events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104583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Popular Command Actions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Macro Conventions</a:t>
            </a:r>
          </a:p>
        </p:txBody>
      </p:sp>
    </p:spTree>
    <p:extLst>
      <p:ext uri="{BB962C8B-B14F-4D97-AF65-F5344CB8AC3E}">
        <p14:creationId xmlns:p14="http://schemas.microsoft.com/office/powerpoint/2010/main" val="207845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990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AutoExec</a:t>
            </a:r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 Macro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660066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r>
              <a:rPr lang="en-US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877748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Logical IF Control Flow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4915805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Using Where and Having in Grouping </a:t>
            </a:r>
          </a:p>
        </p:txBody>
      </p:sp>
    </p:spTree>
    <p:extLst>
      <p:ext uri="{BB962C8B-B14F-4D97-AF65-F5344CB8AC3E}">
        <p14:creationId xmlns:p14="http://schemas.microsoft.com/office/powerpoint/2010/main" val="53090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Macros?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5D6BEF-E2B9-41B2-F552-658827E3AD3F}"/>
              </a:ext>
            </a:extLst>
          </p:cNvPr>
          <p:cNvSpPr txBox="1"/>
          <p:nvPr/>
        </p:nvSpPr>
        <p:spPr>
          <a:xfrm>
            <a:off x="1255860" y="2413263"/>
            <a:ext cx="9412139" cy="252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Macro is a tool to write code and automate your database actions.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save you action that use should do manually, like opening a form or report from navigation pane.</a:t>
            </a: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create a macro that opens a form or report and assign it to a button so user only click the button to open.</a:t>
            </a:r>
          </a:p>
        </p:txBody>
      </p:sp>
    </p:spTree>
    <p:extLst>
      <p:ext uri="{BB962C8B-B14F-4D97-AF65-F5344CB8AC3E}">
        <p14:creationId xmlns:p14="http://schemas.microsoft.com/office/powerpoint/2010/main" val="5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Macros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1B669-DE50-8A61-39A9-6D1BA28E5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60" y="2168631"/>
            <a:ext cx="11060068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7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Why Using Macros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D263E1-0C4E-441E-FBA2-ADFDA0B2C139}"/>
              </a:ext>
            </a:extLst>
          </p:cNvPr>
          <p:cNvGrpSpPr/>
          <p:nvPr/>
        </p:nvGrpSpPr>
        <p:grpSpPr>
          <a:xfrm>
            <a:off x="4037824" y="1423392"/>
            <a:ext cx="7720214" cy="4284389"/>
            <a:chOff x="0" y="0"/>
            <a:chExt cx="3114675" cy="15323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5FAB4E2-F2B3-E952-C9D7-04F594462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79" y="0"/>
              <a:ext cx="2858770" cy="86169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D1D3B8-0213-87FB-E2A4-3D64A3E24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75763"/>
              <a:ext cx="3114675" cy="656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475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Types of Macros and Their Scopes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77B77282-5E76-B3A2-79DF-FB7E8CBA1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44" y="2318930"/>
            <a:ext cx="10200112" cy="350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7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15A :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a Simple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Macro Hello World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2DB4567-FCDB-4AC7-55CA-4DEE34DB7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463" y="841144"/>
            <a:ext cx="2303947" cy="345162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5A145FF-3F53-1410-B081-824D881C2A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42" y="1175385"/>
            <a:ext cx="1694816" cy="514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3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C3A5D12-E157-10A0-30B8-D850934EF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99" y="1791487"/>
            <a:ext cx="4851321" cy="37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9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7EE922D-5D25-51BA-33F1-832555D17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75" y="1304440"/>
            <a:ext cx="6651348" cy="4264058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86C3225-77A2-70D9-EF91-4881AAB049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416" y="829746"/>
            <a:ext cx="2757623" cy="133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Events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56827-3319-56BE-BC5C-771CC5AAA30B}"/>
              </a:ext>
            </a:extLst>
          </p:cNvPr>
          <p:cNvSpPr txBox="1"/>
          <p:nvPr/>
        </p:nvSpPr>
        <p:spPr>
          <a:xfrm>
            <a:off x="797858" y="1822348"/>
            <a:ext cx="10201836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event is the result of initiating an action on an object.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action could be as simple as positioning the mouse on an object even without clicking (Hovering).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action could consist of (left) clicking, right-clicking, dragging (with the mouse, or dragging with the mouse while holding a key on the keyboard), double-clicking, rolling the wheel (of a mouse), typing (with the keyboard), pressing a key, scrolling (a scroll bar), etc.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When an action is performed on an object, the object must send a message to the operating system (OS), letting the OS know that something (or what) happened.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OS must then decide what to do, whether to respond to the message or send the message to another object.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69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6A382A-CE9F-0A63-9CB2-EBAEC4D4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8405"/>
            <a:ext cx="3669973" cy="3425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33FDC-2331-6BF1-2ADE-CAB28E46F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33" y="346568"/>
            <a:ext cx="3669974" cy="2795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822F5-BFC6-943F-34A6-B23A504E7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45" y="3851114"/>
            <a:ext cx="3458058" cy="222916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CDA2158-1E36-8405-3B5C-DD360327C073}"/>
              </a:ext>
            </a:extLst>
          </p:cNvPr>
          <p:cNvGrpSpPr/>
          <p:nvPr/>
        </p:nvGrpSpPr>
        <p:grpSpPr>
          <a:xfrm>
            <a:off x="2985973" y="4281298"/>
            <a:ext cx="3458058" cy="920216"/>
            <a:chOff x="3012867" y="3796163"/>
            <a:chExt cx="3458058" cy="920216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4FDE6FA9-D065-04A4-A280-494EA42BD71B}"/>
                </a:ext>
              </a:extLst>
            </p:cNvPr>
            <p:cNvSpPr/>
            <p:nvPr/>
          </p:nvSpPr>
          <p:spPr>
            <a:xfrm>
              <a:off x="3012867" y="4244741"/>
              <a:ext cx="3458058" cy="471638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9A7090-061D-28EF-533F-A188D31B4026}"/>
                </a:ext>
              </a:extLst>
            </p:cNvPr>
            <p:cNvSpPr/>
            <p:nvPr/>
          </p:nvSpPr>
          <p:spPr>
            <a:xfrm>
              <a:off x="3337981" y="3796163"/>
              <a:ext cx="299293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Send A Message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26BAFD-71BD-67CC-317A-E3391FA66C50}"/>
              </a:ext>
            </a:extLst>
          </p:cNvPr>
          <p:cNvGrpSpPr/>
          <p:nvPr/>
        </p:nvGrpSpPr>
        <p:grpSpPr>
          <a:xfrm>
            <a:off x="7329176" y="2344922"/>
            <a:ext cx="1861911" cy="721964"/>
            <a:chOff x="7329176" y="2344922"/>
            <a:chExt cx="1861911" cy="721964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37D179E-FFB5-99AF-049F-817E103165A7}"/>
                </a:ext>
              </a:extLst>
            </p:cNvPr>
            <p:cNvSpPr/>
            <p:nvPr/>
          </p:nvSpPr>
          <p:spPr>
            <a:xfrm rot="12251829">
              <a:off x="7329176" y="2623825"/>
              <a:ext cx="1861911" cy="443061"/>
            </a:xfrm>
            <a:prstGeom prst="rightArrow">
              <a:avLst>
                <a:gd name="adj1" fmla="val 16941"/>
                <a:gd name="adj2" fmla="val 50000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FE66EA-C660-156A-6965-FBD1C1D3FA38}"/>
                </a:ext>
              </a:extLst>
            </p:cNvPr>
            <p:cNvSpPr/>
            <p:nvPr/>
          </p:nvSpPr>
          <p:spPr>
            <a:xfrm rot="1152339">
              <a:off x="7906506" y="2344922"/>
              <a:ext cx="1183337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Check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B29560A-F7CD-8B55-9C30-F8723B4B564B}"/>
              </a:ext>
            </a:extLst>
          </p:cNvPr>
          <p:cNvSpPr/>
          <p:nvPr/>
        </p:nvSpPr>
        <p:spPr>
          <a:xfrm>
            <a:off x="380536" y="346568"/>
            <a:ext cx="20179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Events</a:t>
            </a:r>
          </a:p>
        </p:txBody>
      </p:sp>
    </p:spTree>
    <p:extLst>
      <p:ext uri="{BB962C8B-B14F-4D97-AF65-F5344CB8AC3E}">
        <p14:creationId xmlns:p14="http://schemas.microsoft.com/office/powerpoint/2010/main" val="417477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Events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56827-3319-56BE-BC5C-771CC5AAA30B}"/>
              </a:ext>
            </a:extLst>
          </p:cNvPr>
          <p:cNvSpPr txBox="1"/>
          <p:nvPr/>
        </p:nvSpPr>
        <p:spPr>
          <a:xfrm>
            <a:off x="797858" y="1822348"/>
            <a:ext cx="10201836" cy="5098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names of most events start with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which means, "at the time this is done". Because most, if not all, events have to do with time, an event is said to be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fired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That is, the object fires an event at the time something happens.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When an event is fired, Microsoft Access (or rather the database engine) gathers the necessary information and composes the message to be transmitted where appropriate.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Again, remember that most events have to do with time (they are referred to as occurrences).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some cases, something must be done before the actual action is applied. For this reason, the names of some events start with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Before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When something must be taken care of after the action has applied, the event that must be used to implement the desired behavior starts with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After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4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15B: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Assign A Macro to an Event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62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032D2-4859-7CB1-1D74-621C129E7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78" y="1555451"/>
            <a:ext cx="4805176" cy="237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Popular Command Actions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BAEB75-6AFB-D358-CA9D-3342661CEFCA}"/>
              </a:ext>
            </a:extLst>
          </p:cNvPr>
          <p:cNvGrpSpPr/>
          <p:nvPr/>
        </p:nvGrpSpPr>
        <p:grpSpPr>
          <a:xfrm>
            <a:off x="1813810" y="1822348"/>
            <a:ext cx="9114166" cy="4533628"/>
            <a:chOff x="0" y="0"/>
            <a:chExt cx="4835694" cy="2456180"/>
          </a:xfrm>
        </p:grpSpPr>
        <p:pic>
          <p:nvPicPr>
            <p:cNvPr id="4" name="Picture 3" descr="A close-up of a computer screen&#10;&#10;Description automatically generated">
              <a:extLst>
                <a:ext uri="{FF2B5EF4-FFF2-40B4-BE49-F238E27FC236}">
                  <a16:creationId xmlns:a16="http://schemas.microsoft.com/office/drawing/2014/main" id="{2FED0052-D210-8564-3931-4E21B9F6A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54" y="0"/>
              <a:ext cx="4777740" cy="1332230"/>
            </a:xfrm>
            <a:prstGeom prst="rect">
              <a:avLst/>
            </a:prstGeom>
          </p:spPr>
        </p:pic>
        <p:pic>
          <p:nvPicPr>
            <p:cNvPr id="6" name="Picture 5" descr="A close up of text&#10;&#10;Description automatically generated">
              <a:extLst>
                <a:ext uri="{FF2B5EF4-FFF2-40B4-BE49-F238E27FC236}">
                  <a16:creationId xmlns:a16="http://schemas.microsoft.com/office/drawing/2014/main" id="{BC17FE66-6922-C59D-C5D2-F255DABF6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71600"/>
              <a:ext cx="4294505" cy="1084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097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Macro Conventions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FE36E0-0BE7-3A54-A7B3-E2AE16A9F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1970974"/>
            <a:ext cx="2191056" cy="2019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A255C0-706C-EF15-DB6D-5CA12EDFD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428" y="1970974"/>
            <a:ext cx="1924319" cy="1324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BC36B5-3D6D-702A-0E1E-55EE33371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214" y="1822348"/>
            <a:ext cx="2467319" cy="20386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5B0421-4471-6ED4-8953-B8FC3AAB6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01" y="4435484"/>
            <a:ext cx="2772162" cy="885949"/>
          </a:xfrm>
          <a:prstGeom prst="rect">
            <a:avLst/>
          </a:prstGeom>
        </p:spPr>
      </p:pic>
      <p:sp>
        <p:nvSpPr>
          <p:cNvPr id="16" name="Arrow: Left 15">
            <a:extLst>
              <a:ext uri="{FF2B5EF4-FFF2-40B4-BE49-F238E27FC236}">
                <a16:creationId xmlns:a16="http://schemas.microsoft.com/office/drawing/2014/main" id="{3D5BB956-032A-C282-F6BD-15771ABE828B}"/>
              </a:ext>
            </a:extLst>
          </p:cNvPr>
          <p:cNvSpPr/>
          <p:nvPr/>
        </p:nvSpPr>
        <p:spPr>
          <a:xfrm rot="19329773">
            <a:off x="7171767" y="3601006"/>
            <a:ext cx="582705" cy="519953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5CDAEE-1132-1D00-2DB8-3268BC956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275" y="4323987"/>
            <a:ext cx="3115110" cy="15051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007AEB-A485-C86E-5309-1D64FE40F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3579" y="4180598"/>
            <a:ext cx="3648584" cy="15813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FE3822-EDDC-11B3-74BD-9E7F942C1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3214" y="5535782"/>
            <a:ext cx="2429214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0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AutoExec</a:t>
            </a:r>
            <a:r>
              <a:rPr lang="en-US" sz="4000" dirty="0">
                <a:solidFill>
                  <a:srgbClr val="FFFFFF"/>
                </a:solidFill>
              </a:rPr>
              <a:t> Macro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856827-3319-56BE-BC5C-771CC5AAA30B}"/>
              </a:ext>
            </a:extLst>
          </p:cNvPr>
          <p:cNvSpPr txBox="1"/>
          <p:nvPr/>
        </p:nvSpPr>
        <p:spPr>
          <a:xfrm>
            <a:off x="797858" y="1822348"/>
            <a:ext cx="10201836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AutoExec Macro is a special Macro.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AutoExec Stands for Automatically Execute.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is a Macro that executes automatically when your database open.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have only ONE AutoExec Macro in each database.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it must be named AutoExec.</a:t>
            </a:r>
            <a:endParaRPr lang="en-US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09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15C: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Create </a:t>
            </a:r>
            <a:r>
              <a:rPr lang="en-US" sz="5000" b="1" dirty="0" err="1">
                <a:solidFill>
                  <a:schemeClr val="bg1"/>
                </a:solidFill>
              </a:rPr>
              <a:t>AutoExxec</a:t>
            </a:r>
            <a:r>
              <a:rPr lang="en-US" sz="5000" b="1" dirty="0">
                <a:solidFill>
                  <a:schemeClr val="bg1"/>
                </a:solidFill>
              </a:rPr>
              <a:t> Macro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9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E8327-991C-31E9-F79E-2C8982A45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06" y="1348104"/>
            <a:ext cx="2617385" cy="1760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491D37-824C-199F-0313-5BBFAD7A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265" y="2893060"/>
            <a:ext cx="1373321" cy="3526583"/>
          </a:xfrm>
          <a:prstGeom prst="rect">
            <a:avLst/>
          </a:prstGeom>
        </p:spPr>
      </p:pic>
      <p:pic>
        <p:nvPicPr>
          <p:cNvPr id="5" name="Picture 4" descr="A picture containing screenshot, text, line&#10;&#10;Description automatically generated">
            <a:extLst>
              <a:ext uri="{FF2B5EF4-FFF2-40B4-BE49-F238E27FC236}">
                <a16:creationId xmlns:a16="http://schemas.microsoft.com/office/drawing/2014/main" id="{209F51BD-7FFD-6DF9-51B6-03F1E81948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310" y="909001"/>
            <a:ext cx="7514343" cy="167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4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15D: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Message Boxes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to Notify Users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59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15E: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Automate Parameter Queries with Macros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34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0D6B51-64B1-7470-1804-F4FF3D429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24" y="1240229"/>
            <a:ext cx="2739998" cy="1814095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0C281DB-02FB-1121-B3CA-A2F7DB09C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785" y="1353371"/>
            <a:ext cx="4064862" cy="1814095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FA715D5-B805-C048-A505-EC42CF1FEF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06" y="3507839"/>
            <a:ext cx="4840007" cy="275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2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15F: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Open a form from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another form using Macro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83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Logical IF Control Flow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6D037-5C95-39B9-5AA4-B8CD6568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778" y="1666629"/>
            <a:ext cx="2114845" cy="176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840910-D10A-E2AF-F872-023238667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01" y="1577702"/>
            <a:ext cx="11613222" cy="1940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39F577-EAA9-410F-E4B1-B5DAA00B3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79" y="1614232"/>
            <a:ext cx="11917438" cy="1867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3B2562-428E-61DD-A47E-E480847C4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51" y="1592603"/>
            <a:ext cx="11850754" cy="3000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D2B483-66AF-602B-413F-35EB70F59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967" y="1682033"/>
            <a:ext cx="11917438" cy="52204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495C00-138B-CC20-6E5A-D01BBCF03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72" y="1535924"/>
            <a:ext cx="11953661" cy="52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5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15G: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Hiding /Unhiding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Field Controls with Macros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95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15G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151336A-C841-F5BA-552A-111892FF0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538981"/>
            <a:ext cx="4905049" cy="1533556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C6F7A40D-8AF4-9EB8-0DD2-247396AEB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77" y="2549159"/>
            <a:ext cx="4454510" cy="175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0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15G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FCAAE1D-7A57-2844-25F0-83AF4F9A18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010" y="1342001"/>
            <a:ext cx="6935179" cy="462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4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15G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4C08699-9103-A0A7-24FA-8A1C12234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553" y="1492415"/>
            <a:ext cx="8040215" cy="400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6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15G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C12EAC4-3515-389E-F18F-569C2DA5C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529" y="1377611"/>
            <a:ext cx="7010400" cy="472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807271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15H: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Macros to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Validate Data Entry 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91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15H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114B648-86D2-8616-32C6-C8BEAD252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441" y="1491503"/>
            <a:ext cx="6556867" cy="425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7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48080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V</a:t>
            </a:r>
            <a:b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Macro</a:t>
            </a:r>
          </a:p>
        </p:txBody>
      </p:sp>
    </p:spTree>
    <p:extLst>
      <p:ext uri="{BB962C8B-B14F-4D97-AF65-F5344CB8AC3E}">
        <p14:creationId xmlns:p14="http://schemas.microsoft.com/office/powerpoint/2010/main" val="720707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Create Macro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5665A05-F295-9488-AB67-23A0554B6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41" y="1138404"/>
            <a:ext cx="3993137" cy="2800714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08CBE6A-B1C4-99F3-ACCE-5C4BFE0A1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361" y="1821776"/>
            <a:ext cx="6285072" cy="423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79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3707</TotalTime>
  <Words>619</Words>
  <Application>Microsoft Office PowerPoint</Application>
  <PresentationFormat>Widescreen</PresentationFormat>
  <Paragraphs>77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MV Boli</vt:lpstr>
      <vt:lpstr>Office Theme</vt:lpstr>
      <vt:lpstr>PowerPoint Presentation</vt:lpstr>
      <vt:lpstr>PowerPoint Presentation</vt:lpstr>
      <vt:lpstr>PowerPoint Presentation</vt:lpstr>
      <vt:lpstr>PowerPoint Presentation</vt:lpstr>
      <vt:lpstr>What is Macros?</vt:lpstr>
      <vt:lpstr>What is Macros</vt:lpstr>
      <vt:lpstr>Why Using Macros</vt:lpstr>
      <vt:lpstr>Types of Macros and Their Scopes</vt:lpstr>
      <vt:lpstr>15A : Creating a Simple  Macro Hello World</vt:lpstr>
      <vt:lpstr>PowerPoint Presentation</vt:lpstr>
      <vt:lpstr>PowerPoint Presentation</vt:lpstr>
      <vt:lpstr>PowerPoint Presentation</vt:lpstr>
      <vt:lpstr>Events</vt:lpstr>
      <vt:lpstr>PowerPoint Presentation</vt:lpstr>
      <vt:lpstr>Events</vt:lpstr>
      <vt:lpstr>Lab 15B: Assign A Macro to an Event</vt:lpstr>
      <vt:lpstr>PowerPoint Presentation</vt:lpstr>
      <vt:lpstr>Popular Command Actions</vt:lpstr>
      <vt:lpstr>Macro Conventions</vt:lpstr>
      <vt:lpstr>AutoExec Macro</vt:lpstr>
      <vt:lpstr>Lab 15C:  Create AutoExxec Macro</vt:lpstr>
      <vt:lpstr>PowerPoint Presentation</vt:lpstr>
      <vt:lpstr>Lab 15D:  Using Message Boxes  to Notify Users</vt:lpstr>
      <vt:lpstr>Lab 15E:  Automate Parameter Queries with Macros</vt:lpstr>
      <vt:lpstr>PowerPoint Presentation</vt:lpstr>
      <vt:lpstr>Lab 15F:  Open a form from  another form using Macro</vt:lpstr>
      <vt:lpstr>Logical IF Control Flow</vt:lpstr>
      <vt:lpstr>Lab 15G:  Hiding /Unhiding  Field Controls with Macros</vt:lpstr>
      <vt:lpstr>PowerPoint Presentation</vt:lpstr>
      <vt:lpstr>PowerPoint Presentation</vt:lpstr>
      <vt:lpstr>PowerPoint Presentation</vt:lpstr>
      <vt:lpstr>PowerPoint Presentation</vt:lpstr>
      <vt:lpstr>Lab 15H:  Using Macros to  Validate Data Entry </vt:lpstr>
      <vt:lpstr>PowerPoint Presentation</vt:lpstr>
      <vt:lpstr>Build Your Project Part V Create Macro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Fundamentals</dc:title>
  <dc:creator>Said Fawzy</dc:creator>
  <cp:lastModifiedBy>Said Fawzy</cp:lastModifiedBy>
  <cp:revision>253</cp:revision>
  <dcterms:created xsi:type="dcterms:W3CDTF">2023-05-17T06:08:53Z</dcterms:created>
  <dcterms:modified xsi:type="dcterms:W3CDTF">2023-08-08T08:07:09Z</dcterms:modified>
</cp:coreProperties>
</file>